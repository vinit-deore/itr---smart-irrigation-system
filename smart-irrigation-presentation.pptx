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2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Smart Irrigation &amp; Water Consumption</a:t>
            </a:r>
            <a:br/>
            <a:r>
              <a:rPr sz="3800" b="1" i="0">
                <a:solidFill>
                  <a:srgbClr val="FFFFFF"/>
                </a:solidFill>
                <a:latin typeface="Georgia"/>
              </a:rPr>
              <a:t>Prediction System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600" b="1" i="0">
                <a:solidFill>
                  <a:srgbClr val="E8985E"/>
                </a:solidFill>
                <a:latin typeface="Verdana"/>
              </a:rPr>
              <a:t>Complete Engineering Project Documentation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A7E72"/>
                </a:solidFill>
                <a:latin typeface="Verdana"/>
              </a:rPr>
              <a:t>Machine Learning • Data Science • Web Application • IoT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Verdana"/>
              </a:rPr>
              <a:t>TECH STACK: Python 3.10+ | Flask | SQLite3 | Scikit-Learn | Pandas | NumPy | Bootstrap 5 | Chart.js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103628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2119"/>
                </a:solidFill>
                <a:latin typeface="Georgia"/>
              </a:rPr>
              <a:t>Over-watering and static scheduling waste 35% of agricultural freshwater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AF9F6"/>
          </a:solidFill>
          <a:ln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CRITICAL LOSSES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362119"/>
                </a:solidFill>
                <a:latin typeface="Georgia"/>
              </a:rPr>
              <a:t>The Cost of Over-Watering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Root Rot &amp; Plant Stress: Stagnant water deprives crop roots of vital oxygen.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Nutrient Leaching: Excessive water washes fertilizers out of root zones.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Wasted Resources: Irrecoverable water waste on saturated soil fields.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Elevated Energy Bills: Continuous pump runtimes spike electricity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0391" y="1645920"/>
            <a:ext cx="5120640" cy="4389120"/>
          </a:xfrm>
          <a:prstGeom prst="round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8A7E72"/>
                </a:solidFill>
                <a:latin typeface="Verdana"/>
              </a:rPr>
              <a:t>CONVENTIONAL SYSTEM FAULTS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1" i="0">
                <a:solidFill>
                  <a:srgbClr val="362119"/>
                </a:solidFill>
                <a:latin typeface="Georgia"/>
              </a:rPr>
              <a:t>Traditional Practice Drawbacks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Under-Watering Hazards: Yield reduction and severe crop dehydration.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Static Manual Schedules: Fails to adapt to actual precipitation or low heat.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Lack of Forecasting: Farmers cannot estimate upcoming 7-day storage needs.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Rule-of-Thumb Guesswork: Ignores microclimatic soil-moisture sensor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2119"/>
                </a:solidFill>
                <a:latin typeface="Georgia"/>
              </a:rPr>
              <a:t>Four-pillar objectives target exact prediction, automated valve runtime, and 7-day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50592" cy="4114800"/>
          </a:xfrm>
          <a:prstGeom prst="roundRect">
            <a:avLst/>
          </a:prstGeom>
          <a:solidFill>
            <a:srgbClr val="FAF9F6"/>
          </a:solidFill>
          <a:ln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E8985E"/>
                </a:solidFill>
                <a:latin typeface="Georgia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Exact Prediction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Predicts the exact crop water volume requirements in Liters per plot unit, removing traditional rule-of-thumb agricultural estimation.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450592" cy="4114800"/>
          </a:xfrm>
          <a:prstGeom prst="round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E8985E"/>
                </a:solidFill>
                <a:latin typeface="Georgia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Valve Runtime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Calculates optimal irrigation runtime duration in minutes and outputs automated ON/OFF signals directly to control valves.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450592" cy="4114800"/>
          </a:xfrm>
          <a:prstGeom prst="round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E8985E"/>
                </a:solidFill>
                <a:latin typeface="Georgia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7-Day Forecast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Generates daily and cumulative weekly water consumption predictions to allow efficient planning of water reservoirs.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450592" cy="4114800"/>
          </a:xfrm>
          <a:prstGeom prst="round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E8985E"/>
                </a:solidFill>
                <a:latin typeface="Georgia"/>
              </a:rPr>
              <a:t>04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Contextual Advice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Recommendation engine delivers real-time advice, such as rain delay triggers, night irrigation, or evaporation hazard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2119"/>
                </a:solidFill>
                <a:latin typeface="Georgia"/>
              </a:rPr>
              <a:t>Random Forest regressor achieves 0.942 R² to dominate the predictive model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1188720"/>
              </a:tblGrid>
              <a:tr h="5878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Verdana"/>
                        </a:rPr>
                        <a:t>Algorithm</a:t>
                      </a:r>
                    </a:p>
                  </a:txBody>
                  <a:tcPr>
                    <a:solidFill>
                      <a:srgbClr val="362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Verdana"/>
                        </a:rPr>
                        <a:t>R² Score</a:t>
                      </a:r>
                    </a:p>
                  </a:txBody>
                  <a:tcPr>
                    <a:solidFill>
                      <a:srgbClr val="362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Verdana"/>
                        </a:rPr>
                        <a:t>RMSE (L)</a:t>
                      </a:r>
                    </a:p>
                  </a:txBody>
                  <a:tcPr>
                    <a:solidFill>
                      <a:srgbClr val="362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Verdana"/>
                        </a:rPr>
                        <a:t>MAE (L)</a:t>
                      </a:r>
                    </a:p>
                  </a:txBody>
                  <a:tcPr>
                    <a:solidFill>
                      <a:srgbClr val="362119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E8985E"/>
                          </a:solidFill>
                          <a:latin typeface="Verdana"/>
                        </a:rPr>
                        <a:t>Random Forest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E8985E"/>
                          </a:solidFill>
                          <a:latin typeface="Verdana"/>
                        </a:rPr>
                        <a:t>0.942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E8985E"/>
                          </a:solidFill>
                          <a:latin typeface="Verdana"/>
                        </a:rPr>
                        <a:t>12.45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E8985E"/>
                          </a:solidFill>
                          <a:latin typeface="Verdana"/>
                        </a:rPr>
                        <a:t>9.12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Extra Trees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0.939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12.80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9.35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Gradient Boosting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0.938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12.95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9.48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Decision Tree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0.885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17.20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12.60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AdaBoost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0.840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20.15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15.30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Linear Regression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0.792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22.80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62119"/>
                          </a:solidFill>
                          <a:latin typeface="Verdana"/>
                        </a:rPr>
                        <a:t>17.50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0" y="16459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PERFORMANCE HIGHLIGHTS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362119"/>
                </a:solidFill>
                <a:latin typeface="Georgia"/>
              </a:rPr>
              <a:t>Why Ensemble Models Succeed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Nonlinear Dominance: Complex weather-crop interactions cannot be mapped by linear baselines, yielding a 15% R² performance gap.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Forest Performance: The Random Forest ensemble regressor achieves the highest precision (R² = 0.942, RMSE = 12.45L) across 10,000+ FAO-compliant records.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Extremely Randomized Trees: Extra Trees matches Gradient Boosting performance closely, highlighting the power of randomized bagging and boosting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2119"/>
                </a:solidFill>
                <a:latin typeface="Georgia"/>
              </a:rPr>
              <a:t>Implementation utilizes robust 1.5x IQR outlier capping, SQLite database schema, and easy cloud deployments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91840" cy="3931920"/>
          </a:xfrm>
          <a:prstGeom prst="rect">
            <a:avLst/>
          </a:prstGeom>
          <a:solidFill>
            <a:srgbClr val="FAF9F6"/>
          </a:solidFill>
          <a:ln>
            <a:solidFill>
              <a:srgbClr val="E89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Step 1: Data Preprocessing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Data Prep &amp; Feature Scaling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• Continuous variables capped using 1.5x IQR bounds to eliminate anomalies.</a:t>
            </a:r>
            <a:br/>
            <a:r>
              <a:rPr sz="1100" b="0" i="0">
                <a:solidFill>
                  <a:srgbClr val="362119"/>
                </a:solidFill>
                <a:latin typeface="Verdana"/>
              </a:rPr>
              <a:t>• Categorical inputs processed using Scikit-Learn's LabelEncoder.</a:t>
            </a:r>
            <a:br/>
            <a:r>
              <a:rPr sz="1100" b="0" i="0">
                <a:solidFill>
                  <a:srgbClr val="362119"/>
                </a:solidFill>
                <a:latin typeface="Verdana"/>
              </a:rPr>
              <a:t>• Input features normalized to zero-mean and unit-variance via StandardScaler.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737360"/>
            <a:ext cx="3291840" cy="3931920"/>
          </a:xfrm>
          <a:prstGeom prst="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Step 2: SQLite DB Schema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Secure Backend Storage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• Users Table: Secure user authentication credentials utilizing strong bcrypt hashing encryption.</a:t>
            </a:r>
            <a:br/>
            <a:r>
              <a:rPr sz="1100" b="0" i="0">
                <a:solidFill>
                  <a:srgbClr val="362119"/>
                </a:solidFill>
                <a:latin typeface="Verdana"/>
              </a:rPr>
              <a:t>• Predictions Table: Log of incoming parameters, predicted liters, required durations, and contextual recommendations.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737360"/>
            <a:ext cx="3291840" cy="3931920"/>
          </a:xfrm>
          <a:prstGeom prst="rect">
            <a:avLst/>
          </a:prstGeom>
          <a:solidFill>
            <a:srgbClr val="FAF9F6"/>
          </a:solidFill>
          <a:ln>
            <a:solidFill>
              <a:srgbClr val="8A7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2119"/>
                </a:solidFill>
                <a:latin typeface="Georgia"/>
              </a:rPr>
              <a:t>Step 3: Web Orchestration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Local and Cloud Deployments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362119"/>
                </a:solidFill>
                <a:latin typeface="Verdana"/>
              </a:rPr>
              <a:t>• Local Instance: Runs locally via Flask web development engine accessible at localhost:5000.</a:t>
            </a:r>
            <a:br/>
            <a:r>
              <a:rPr sz="1100" b="0" i="0">
                <a:solidFill>
                  <a:srgbClr val="362119"/>
                </a:solidFill>
                <a:latin typeface="Verdana"/>
              </a:rPr>
              <a:t>• Cloud-Ready: Configured for Render/Railway with entry point set to app.py and automated train_model.py build commands.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2119"/>
                </a:solidFill>
                <a:latin typeface="Georgia"/>
              </a:rPr>
              <a:t>Merging empirical evapotranspiration physics with machine learning successfully drives 35% water savings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E89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011680"/>
            <a:ext cx="3474720" cy="3474720"/>
          </a:xfrm>
          <a:prstGeom prst="ellipse">
            <a:avLst/>
          </a:prstGeom>
          <a:solidFill>
            <a:srgbClr val="362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E8985E"/>
                </a:solidFill>
                <a:latin typeface="Georgia"/>
              </a:rPr>
              <a:t>35%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Verdana"/>
              </a:rPr>
              <a:t>Freshwater Savings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A7E72"/>
                </a:solidFill>
                <a:latin typeface="Verdana"/>
              </a:rPr>
              <a:t>Achieved globally across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8985E"/>
                </a:solidFill>
                <a:latin typeface="Verdana"/>
              </a:rPr>
              <a:t>THE SMART IRRIGATION REVOLUTION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362119"/>
                </a:solidFill>
                <a:latin typeface="Georgia"/>
              </a:rPr>
              <a:t>Key System Advantages &amp; Outcomes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Blends Physics &amp; Data Science: Evapotranspiration physics (ET_c = K_c * ET_0) synergizes with Random Forest's non-linear regression mapping.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Zero-Estimation Manual Errors: Automated irrigation signals (valve status and runtimes) eliminate costly farm auditing mistakes.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Proactive Water Budgeting: Built-in 7-day daily and cumulative forecasting empowers farm managers to pre-plan water storage tank needs.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62119"/>
                </a:solidFill>
                <a:latin typeface="Verdana"/>
              </a:rPr>
              <a:t>• Modern Interactive Platform: Offers farmers full web dashboards, bcrypt security, interactive live weather charts, and CSV/PDF report downloads.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